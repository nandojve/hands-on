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1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3" r:id="rId26"/>
    <p:sldId id="282" r:id="rId27"/>
    <p:sldId id="284" r:id="rId28"/>
    <p:sldId id="26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79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6/3/2014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6/3/2014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6/3/2014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6/3/2014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6/3/2014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6/3/2014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6/3/2014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6/3/2014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6/3/2014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tmel.com/tools/ATMELSAM-BAIN-SYSTEMPROGRAMMER.aspx" TargetMode="External"/><Relationship Id="rId2" Type="http://schemas.openxmlformats.org/officeDocument/2006/relationships/hyperlink" Target="http://www.atmel.com/tools/atmelstudio.aspx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w-group.com/products/hercules/index_en.html" TargetMode="External"/><Relationship Id="rId2" Type="http://schemas.openxmlformats.org/officeDocument/2006/relationships/hyperlink" Target="https://github.com/nandojve/AVRxPRO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nandojve/hardware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032" y="876672"/>
            <a:ext cx="4705466" cy="32392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ATMEL Studio</a:t>
            </a:r>
            <a:br>
              <a:rPr lang="pt-BR" dirty="0" smtClean="0"/>
            </a:br>
            <a:r>
              <a:rPr lang="pt-BR" dirty="0" smtClean="0"/>
              <a:t>WM </a:t>
            </a:r>
            <a:r>
              <a:rPr lang="en-US" dirty="0" err="1" smtClean="0"/>
              <a:t>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Gerson Fernando </a:t>
            </a:r>
            <a:r>
              <a:rPr lang="pt-BR" dirty="0" err="1" smtClean="0"/>
              <a:t>Budke</a:t>
            </a:r>
            <a:endParaRPr lang="pt-BR" dirty="0" smtClean="0"/>
          </a:p>
          <a:p>
            <a:r>
              <a:rPr lang="pt-BR" dirty="0" smtClean="0"/>
              <a:t>nandojve@gmail.com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73360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19001"/>
            <a:ext cx="10820399" cy="738399"/>
          </a:xfrm>
        </p:spPr>
        <p:txBody>
          <a:bodyPr/>
          <a:lstStyle/>
          <a:p>
            <a:pPr algn="l"/>
            <a:r>
              <a:rPr lang="pt-BR" dirty="0" smtClean="0"/>
              <a:t>Agenda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10619509" cy="4024125"/>
          </a:xfrm>
        </p:spPr>
        <p:txBody>
          <a:bodyPr/>
          <a:lstStyle/>
          <a:p>
            <a:r>
              <a:rPr lang="pt-BR" dirty="0" smtClean="0"/>
              <a:t>Overview</a:t>
            </a:r>
          </a:p>
          <a:p>
            <a:r>
              <a:rPr lang="pt-BR" dirty="0" err="1" smtClean="0"/>
              <a:t>Installing</a:t>
            </a:r>
            <a:r>
              <a:rPr lang="pt-BR" dirty="0" smtClean="0"/>
              <a:t> Tools</a:t>
            </a:r>
          </a:p>
          <a:p>
            <a:r>
              <a:rPr lang="pt-BR" dirty="0" smtClean="0"/>
              <a:t>Setup </a:t>
            </a:r>
            <a:r>
              <a:rPr lang="en-US" dirty="0" smtClean="0"/>
              <a:t>Environment</a:t>
            </a:r>
          </a:p>
          <a:p>
            <a:r>
              <a:rPr lang="en-US" dirty="0" smtClean="0"/>
              <a:t>Create a Project and convert to multi target</a:t>
            </a:r>
          </a:p>
          <a:p>
            <a:r>
              <a:rPr lang="en-US" dirty="0" smtClean="0"/>
              <a:t>Parametric </a:t>
            </a:r>
            <a:r>
              <a:rPr lang="en-US" dirty="0" err="1" smtClean="0"/>
              <a:t>Makefile</a:t>
            </a:r>
            <a:endParaRPr lang="en-US" dirty="0" smtClean="0"/>
          </a:p>
          <a:p>
            <a:r>
              <a:rPr lang="en-US" dirty="0" smtClean="0"/>
              <a:t>Blink a LED from scratch</a:t>
            </a:r>
          </a:p>
          <a:p>
            <a:r>
              <a:rPr lang="en-US" dirty="0" smtClean="0"/>
              <a:t>Upload firmware with </a:t>
            </a:r>
            <a:r>
              <a:rPr lang="en-US" dirty="0" err="1" smtClean="0"/>
              <a:t>AVRxPROG</a:t>
            </a:r>
            <a:endParaRPr lang="en-US" dirty="0" smtClean="0"/>
          </a:p>
          <a:p>
            <a:r>
              <a:rPr lang="en-US" dirty="0" smtClean="0"/>
              <a:t>Upload firmware with SAM-BA</a:t>
            </a:r>
          </a:p>
          <a:p>
            <a:r>
              <a:rPr lang="en-US" dirty="0" smtClean="0"/>
              <a:t>Issues?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05719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19001"/>
            <a:ext cx="10820399" cy="738399"/>
          </a:xfrm>
        </p:spPr>
        <p:txBody>
          <a:bodyPr/>
          <a:lstStyle/>
          <a:p>
            <a:pPr algn="l"/>
            <a:r>
              <a:rPr lang="pt-BR" dirty="0" smtClean="0"/>
              <a:t>Overview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5116189" cy="4024125"/>
          </a:xfrm>
        </p:spPr>
        <p:txBody>
          <a:bodyPr/>
          <a:lstStyle/>
          <a:p>
            <a:r>
              <a:rPr lang="pt-BR" dirty="0" smtClean="0"/>
              <a:t>Overview</a:t>
            </a:r>
          </a:p>
          <a:p>
            <a:r>
              <a:rPr lang="pt-BR" dirty="0" err="1" smtClean="0"/>
              <a:t>Installing</a:t>
            </a:r>
            <a:r>
              <a:rPr lang="pt-BR" dirty="0" smtClean="0"/>
              <a:t> Tools</a:t>
            </a:r>
          </a:p>
          <a:p>
            <a:r>
              <a:rPr lang="pt-BR" dirty="0" smtClean="0"/>
              <a:t>Setup </a:t>
            </a:r>
            <a:r>
              <a:rPr lang="en-US" dirty="0" smtClean="0"/>
              <a:t>Environment</a:t>
            </a:r>
          </a:p>
          <a:p>
            <a:r>
              <a:rPr lang="en-US" dirty="0" smtClean="0"/>
              <a:t>Create a Project and convert to multi target</a:t>
            </a:r>
          </a:p>
          <a:p>
            <a:r>
              <a:rPr lang="en-US" dirty="0" smtClean="0"/>
              <a:t>Parametric </a:t>
            </a:r>
            <a:r>
              <a:rPr lang="en-US" dirty="0" err="1" smtClean="0"/>
              <a:t>makefiles</a:t>
            </a:r>
            <a:endParaRPr lang="en-US" dirty="0" smtClean="0"/>
          </a:p>
          <a:p>
            <a:r>
              <a:rPr lang="en-US" dirty="0" smtClean="0"/>
              <a:t>Issues?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7726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19001"/>
            <a:ext cx="10820399" cy="738399"/>
          </a:xfrm>
        </p:spPr>
        <p:txBody>
          <a:bodyPr/>
          <a:lstStyle/>
          <a:p>
            <a:pPr algn="l"/>
            <a:r>
              <a:rPr lang="pt-BR" dirty="0" err="1" smtClean="0"/>
              <a:t>Installing</a:t>
            </a:r>
            <a:r>
              <a:rPr lang="pt-BR" dirty="0" smtClean="0"/>
              <a:t> tools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10820399" cy="4024125"/>
          </a:xfrm>
        </p:spPr>
        <p:txBody>
          <a:bodyPr>
            <a:normAutofit/>
          </a:bodyPr>
          <a:lstStyle/>
          <a:p>
            <a:r>
              <a:rPr lang="en-US" dirty="0"/>
              <a:t>Install ATMEL Studio 6</a:t>
            </a:r>
          </a:p>
          <a:p>
            <a:pPr lvl="1"/>
            <a:r>
              <a:rPr lang="en-US" dirty="0"/>
              <a:t>go to </a:t>
            </a:r>
            <a:r>
              <a:rPr lang="en-US" dirty="0">
                <a:hlinkClick r:id="rId2"/>
              </a:rPr>
              <a:t>http://www.atmel.com/tools/atmelstudio.aspx</a:t>
            </a:r>
            <a:r>
              <a:rPr lang="en-US" dirty="0"/>
              <a:t> and download a full version of ATMEL Studio 6 (with .</a:t>
            </a:r>
            <a:r>
              <a:rPr lang="en-US"/>
              <a:t>NET</a:t>
            </a:r>
            <a:r>
              <a:rPr lang="en-US" smtClean="0"/>
              <a:t>)</a:t>
            </a:r>
            <a:endParaRPr lang="en-US" dirty="0"/>
          </a:p>
          <a:p>
            <a:pPr lvl="1"/>
            <a:r>
              <a:rPr lang="en-US" dirty="0"/>
              <a:t>Now, the basic environment have ALL devices configurations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Install SAM-BA In System Programmer (ISP)</a:t>
            </a:r>
          </a:p>
          <a:p>
            <a:pPr lvl="1"/>
            <a:r>
              <a:rPr lang="en-US" dirty="0"/>
              <a:t>go to </a:t>
            </a:r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www.atmel.com/tools/ATMELSAM-BAIN-SYSTEMPROGRAMMER.aspx</a:t>
            </a:r>
            <a:r>
              <a:rPr lang="en-US" dirty="0" smtClean="0"/>
              <a:t> and </a:t>
            </a:r>
            <a:r>
              <a:rPr lang="en-US" dirty="0"/>
              <a:t>download </a:t>
            </a:r>
            <a:r>
              <a:rPr lang="en-US" dirty="0" smtClean="0"/>
              <a:t>last version</a:t>
            </a:r>
          </a:p>
          <a:p>
            <a:pPr lvl="1"/>
            <a:r>
              <a:rPr lang="en-US" dirty="0" smtClean="0"/>
              <a:t>Download the last patch at same page</a:t>
            </a:r>
            <a:endParaRPr lang="en-US" dirty="0"/>
          </a:p>
          <a:p>
            <a:pPr lvl="1"/>
            <a:r>
              <a:rPr lang="en-US" dirty="0"/>
              <a:t>Now, </a:t>
            </a:r>
            <a:r>
              <a:rPr lang="en-US" dirty="0" smtClean="0"/>
              <a:t>any SAM ARM processor can be upload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121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19001"/>
            <a:ext cx="10820399" cy="738399"/>
          </a:xfrm>
        </p:spPr>
        <p:txBody>
          <a:bodyPr/>
          <a:lstStyle/>
          <a:p>
            <a:pPr algn="l"/>
            <a:r>
              <a:rPr lang="pt-BR" dirty="0" err="1" smtClean="0"/>
              <a:t>Installing</a:t>
            </a:r>
            <a:r>
              <a:rPr lang="pt-BR" dirty="0" smtClean="0"/>
              <a:t> tools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10820399" cy="402412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Install </a:t>
            </a:r>
            <a:r>
              <a:rPr lang="en-US" dirty="0" err="1"/>
              <a:t>AVRxPROG</a:t>
            </a:r>
            <a:endParaRPr lang="en-US" dirty="0"/>
          </a:p>
          <a:p>
            <a:pPr lvl="1"/>
            <a:r>
              <a:rPr lang="en-US" dirty="0"/>
              <a:t>go to </a:t>
            </a:r>
            <a:r>
              <a:rPr lang="en-US" dirty="0">
                <a:hlinkClick r:id="rId2"/>
              </a:rPr>
              <a:t>https://github.com/nandojve/AVRxPROG</a:t>
            </a:r>
            <a:r>
              <a:rPr lang="en-US" dirty="0"/>
              <a:t> and download last version of </a:t>
            </a:r>
            <a:r>
              <a:rPr lang="en-US" dirty="0" err="1"/>
              <a:t>AVRxPROG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Now, the firmware can be download to board by console or any high level application. Look the basic steps at:</a:t>
            </a:r>
          </a:p>
          <a:p>
            <a:pPr lvl="2"/>
            <a:r>
              <a:rPr lang="en-US" dirty="0"/>
              <a:t>cd &lt;</a:t>
            </a:r>
            <a:r>
              <a:rPr lang="en-US" dirty="0" err="1"/>
              <a:t>avrxprog</a:t>
            </a:r>
            <a:r>
              <a:rPr lang="en-US" dirty="0"/>
              <a:t> install </a:t>
            </a:r>
            <a:r>
              <a:rPr lang="en-US" dirty="0" err="1"/>
              <a:t>dir</a:t>
            </a:r>
            <a:r>
              <a:rPr lang="en-US" dirty="0"/>
              <a:t>&gt;</a:t>
            </a:r>
          </a:p>
          <a:p>
            <a:pPr lvl="2"/>
            <a:r>
              <a:rPr lang="en-US" dirty="0" err="1"/>
              <a:t>avrxprog</a:t>
            </a:r>
            <a:r>
              <a:rPr lang="en-US" dirty="0"/>
              <a:t> &lt;enter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Download </a:t>
            </a:r>
            <a:r>
              <a:rPr lang="en-US" dirty="0"/>
              <a:t>Hercules Utility</a:t>
            </a:r>
          </a:p>
          <a:p>
            <a:pPr lvl="1"/>
            <a:r>
              <a:rPr lang="en-US" dirty="0"/>
              <a:t>go to </a:t>
            </a:r>
            <a:r>
              <a:rPr lang="en-US" dirty="0">
                <a:hlinkClick r:id="rId3"/>
              </a:rPr>
              <a:t>http://www.hw-group.com/products/hercules/index_en.html</a:t>
            </a:r>
            <a:r>
              <a:rPr lang="en-US" dirty="0"/>
              <a:t> and download last version</a:t>
            </a:r>
          </a:p>
          <a:p>
            <a:pPr lvl="1"/>
            <a:r>
              <a:rPr lang="en-US" dirty="0"/>
              <a:t>First run, accept license</a:t>
            </a:r>
          </a:p>
          <a:p>
            <a:r>
              <a:rPr lang="en-US" dirty="0"/>
              <a:t>Install board drivers</a:t>
            </a:r>
          </a:p>
          <a:p>
            <a:pPr lvl="1"/>
            <a:r>
              <a:rPr lang="en-US" dirty="0"/>
              <a:t>go to </a:t>
            </a:r>
            <a:r>
              <a:rPr lang="en-US" dirty="0">
                <a:hlinkClick r:id="rId4"/>
              </a:rPr>
              <a:t>https://github.com/nandojve/hardware</a:t>
            </a:r>
            <a:endParaRPr lang="en-US" dirty="0"/>
          </a:p>
          <a:p>
            <a:pPr lvl="1"/>
            <a:r>
              <a:rPr lang="en-US" dirty="0"/>
              <a:t>Open &lt;board&gt;/driver folder and download content</a:t>
            </a:r>
          </a:p>
          <a:p>
            <a:pPr lvl="1"/>
            <a:r>
              <a:rPr lang="en-US" dirty="0"/>
              <a:t>WM-100-DUINO:</a:t>
            </a:r>
          </a:p>
          <a:p>
            <a:pPr lvl="2"/>
            <a:r>
              <a:rPr lang="en-US" dirty="0"/>
              <a:t>Board: WM – Wireless Modules</a:t>
            </a:r>
          </a:p>
          <a:p>
            <a:pPr lvl="2"/>
            <a:r>
              <a:rPr lang="en-US" dirty="0"/>
              <a:t>Driver: WM Series (Wireless Module CDC Driver)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00593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19001"/>
            <a:ext cx="10820399" cy="738399"/>
          </a:xfrm>
        </p:spPr>
        <p:txBody>
          <a:bodyPr/>
          <a:lstStyle/>
          <a:p>
            <a:pPr algn="l"/>
            <a:r>
              <a:rPr lang="pt-BR" dirty="0" smtClean="0"/>
              <a:t>Setup </a:t>
            </a:r>
            <a:r>
              <a:rPr lang="pt-BR" dirty="0" err="1" smtClean="0"/>
              <a:t>Environment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2194560"/>
            <a:ext cx="5234232" cy="4024125"/>
          </a:xfrm>
        </p:spPr>
        <p:txBody>
          <a:bodyPr/>
          <a:lstStyle/>
          <a:p>
            <a:r>
              <a:rPr lang="en-US" dirty="0"/>
              <a:t>Setup second KITRFA1 COM port</a:t>
            </a:r>
          </a:p>
          <a:p>
            <a:pPr lvl="1"/>
            <a:r>
              <a:rPr lang="en-US" dirty="0"/>
              <a:t>Open Control Panel -&gt;</a:t>
            </a:r>
          </a:p>
          <a:p>
            <a:pPr lvl="1"/>
            <a:r>
              <a:rPr lang="en-US" dirty="0"/>
              <a:t>System and Security -&gt;</a:t>
            </a:r>
          </a:p>
          <a:p>
            <a:pPr lvl="1"/>
            <a:r>
              <a:rPr lang="en-US" dirty="0"/>
              <a:t>System -&gt;</a:t>
            </a:r>
          </a:p>
          <a:p>
            <a:pPr lvl="1"/>
            <a:r>
              <a:rPr lang="en-US" dirty="0"/>
              <a:t>USB controllers -&gt;</a:t>
            </a:r>
          </a:p>
          <a:p>
            <a:pPr lvl="1"/>
            <a:r>
              <a:rPr lang="en-US" dirty="0"/>
              <a:t>Select USB Serial Converter B -&gt;</a:t>
            </a:r>
          </a:p>
          <a:p>
            <a:pPr lvl="1"/>
            <a:r>
              <a:rPr lang="en-US" dirty="0"/>
              <a:t>Properties</a:t>
            </a:r>
          </a:p>
          <a:p>
            <a:pPr lvl="1"/>
            <a:endParaRPr lang="en-US" dirty="0"/>
          </a:p>
          <a:p>
            <a:endParaRPr lang="pt-B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037" y="520977"/>
            <a:ext cx="5445162" cy="607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412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19001"/>
            <a:ext cx="10820399" cy="738399"/>
          </a:xfrm>
        </p:spPr>
        <p:txBody>
          <a:bodyPr/>
          <a:lstStyle/>
          <a:p>
            <a:pPr algn="l"/>
            <a:r>
              <a:rPr lang="pt-BR" dirty="0" smtClean="0"/>
              <a:t>Setup </a:t>
            </a:r>
            <a:r>
              <a:rPr lang="pt-BR" dirty="0" err="1" smtClean="0"/>
              <a:t>Environment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5187099" cy="4024125"/>
          </a:xfrm>
        </p:spPr>
        <p:txBody>
          <a:bodyPr/>
          <a:lstStyle/>
          <a:p>
            <a:pPr lvl="1"/>
            <a:r>
              <a:rPr lang="en-US" dirty="0"/>
              <a:t>Load VCP driver</a:t>
            </a:r>
          </a:p>
          <a:p>
            <a:pPr lvl="1"/>
            <a:r>
              <a:rPr lang="en-US" dirty="0"/>
              <a:t>Press OK</a:t>
            </a:r>
          </a:p>
          <a:p>
            <a:pPr lvl="1"/>
            <a:r>
              <a:rPr lang="en-US" dirty="0"/>
              <a:t>Now, 2° port will install and show up</a:t>
            </a:r>
          </a:p>
          <a:p>
            <a:pPr lvl="1"/>
            <a:endParaRPr lang="en-US" dirty="0"/>
          </a:p>
          <a:p>
            <a:endParaRPr lang="pt-BR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149" y="1319001"/>
            <a:ext cx="4210050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394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19001"/>
            <a:ext cx="10654645" cy="738399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Create a Project </a:t>
            </a:r>
            <a:r>
              <a:rPr lang="en-US" dirty="0" smtClean="0"/>
              <a:t>and</a:t>
            </a:r>
            <a:br>
              <a:rPr lang="en-US" dirty="0" smtClean="0"/>
            </a:br>
            <a:r>
              <a:rPr lang="en-US" dirty="0" smtClean="0"/>
              <a:t>convert </a:t>
            </a:r>
            <a:r>
              <a:rPr lang="en-US" dirty="0"/>
              <a:t>to multi </a:t>
            </a:r>
            <a:r>
              <a:rPr lang="en-US" dirty="0" smtClean="0"/>
              <a:t>target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6445"/>
            <a:ext cx="5187099" cy="4022240"/>
          </a:xfrm>
        </p:spPr>
        <p:txBody>
          <a:bodyPr/>
          <a:lstStyle/>
          <a:p>
            <a:r>
              <a:rPr lang="en-US" dirty="0" smtClean="0"/>
              <a:t>File -&gt;</a:t>
            </a:r>
          </a:p>
          <a:p>
            <a:r>
              <a:rPr lang="en-US" dirty="0" smtClean="0"/>
              <a:t>New -&gt;</a:t>
            </a:r>
          </a:p>
          <a:p>
            <a:r>
              <a:rPr lang="en-US" dirty="0" smtClean="0"/>
              <a:t>Project</a:t>
            </a:r>
            <a:endParaRPr lang="en-US" dirty="0"/>
          </a:p>
          <a:p>
            <a:endParaRPr lang="pt-B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122" y="2407340"/>
            <a:ext cx="5514975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79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19001"/>
            <a:ext cx="10820399" cy="738399"/>
          </a:xfrm>
        </p:spPr>
        <p:txBody>
          <a:bodyPr/>
          <a:lstStyle/>
          <a:p>
            <a:pPr algn="l"/>
            <a:r>
              <a:rPr lang="pt-BR" dirty="0" err="1" smtClean="0"/>
              <a:t>Create</a:t>
            </a:r>
            <a:r>
              <a:rPr lang="pt-BR" dirty="0" smtClean="0"/>
              <a:t> </a:t>
            </a:r>
            <a:r>
              <a:rPr lang="pt-BR" dirty="0" err="1" smtClean="0"/>
              <a:t>solution</a:t>
            </a:r>
            <a:r>
              <a:rPr lang="pt-BR" dirty="0" smtClean="0"/>
              <a:t> base Project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3245177" cy="4024125"/>
          </a:xfrm>
        </p:spPr>
        <p:txBody>
          <a:bodyPr/>
          <a:lstStyle/>
          <a:p>
            <a:r>
              <a:rPr lang="en-US" dirty="0" smtClean="0"/>
              <a:t>Create a </a:t>
            </a:r>
            <a:r>
              <a:rPr lang="en-US" b="1" dirty="0" smtClean="0"/>
              <a:t>GCC C Project</a:t>
            </a:r>
          </a:p>
          <a:p>
            <a:r>
              <a:rPr lang="en-US" dirty="0" smtClean="0"/>
              <a:t>Set </a:t>
            </a:r>
            <a:r>
              <a:rPr lang="en-US" b="1" dirty="0" smtClean="0"/>
              <a:t>Location</a:t>
            </a:r>
            <a:r>
              <a:rPr lang="en-US" dirty="0" smtClean="0"/>
              <a:t> to your preferred base directory</a:t>
            </a:r>
          </a:p>
          <a:p>
            <a:r>
              <a:rPr lang="en-US" dirty="0" smtClean="0"/>
              <a:t>Set project name to </a:t>
            </a:r>
            <a:r>
              <a:rPr lang="en-US" b="1" dirty="0" err="1" smtClean="0"/>
              <a:t>HandsOn</a:t>
            </a:r>
            <a:endParaRPr lang="en-US" b="1" dirty="0" smtClean="0"/>
          </a:p>
          <a:p>
            <a:endParaRPr lang="en-US" b="1" dirty="0"/>
          </a:p>
          <a:p>
            <a:r>
              <a:rPr lang="en-US" dirty="0" smtClean="0"/>
              <a:t>Note: Do not create directory for solution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978" y="2057400"/>
            <a:ext cx="77533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79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19001"/>
            <a:ext cx="10820399" cy="738399"/>
          </a:xfrm>
        </p:spPr>
        <p:txBody>
          <a:bodyPr/>
          <a:lstStyle/>
          <a:p>
            <a:pPr algn="l"/>
            <a:r>
              <a:rPr lang="pt-BR" dirty="0" err="1" smtClean="0"/>
              <a:t>Seletct</a:t>
            </a:r>
            <a:r>
              <a:rPr lang="pt-BR" dirty="0" smtClean="0"/>
              <a:t> AVR8 </a:t>
            </a:r>
            <a:r>
              <a:rPr lang="pt-BR" dirty="0" err="1" smtClean="0"/>
              <a:t>microcontroller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3245177" cy="4024125"/>
          </a:xfrm>
        </p:spPr>
        <p:txBody>
          <a:bodyPr>
            <a:normAutofit/>
          </a:bodyPr>
          <a:lstStyle/>
          <a:p>
            <a:r>
              <a:rPr lang="en-US" dirty="0" smtClean="0"/>
              <a:t>Select any AVR8 microcontroller</a:t>
            </a:r>
          </a:p>
          <a:p>
            <a:r>
              <a:rPr lang="en-US" dirty="0" smtClean="0"/>
              <a:t>For specific use with WM Series:</a:t>
            </a:r>
          </a:p>
          <a:p>
            <a:pPr lvl="1"/>
            <a:r>
              <a:rPr lang="en-US" dirty="0" smtClean="0"/>
              <a:t>mega128rfa1</a:t>
            </a:r>
          </a:p>
          <a:p>
            <a:pPr lvl="1"/>
            <a:r>
              <a:rPr lang="en-US" dirty="0" smtClean="0"/>
              <a:t>mega256rfr2</a:t>
            </a:r>
          </a:p>
          <a:p>
            <a:pPr lvl="1"/>
            <a:r>
              <a:rPr lang="en-US" dirty="0" smtClean="0"/>
              <a:t>xmega256a3u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596" y="2014548"/>
            <a:ext cx="6295603" cy="438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126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19001"/>
            <a:ext cx="10820399" cy="738399"/>
          </a:xfrm>
        </p:spPr>
        <p:txBody>
          <a:bodyPr/>
          <a:lstStyle/>
          <a:p>
            <a:pPr algn="l"/>
            <a:r>
              <a:rPr lang="pt-BR" dirty="0" err="1" smtClean="0"/>
              <a:t>Seletct</a:t>
            </a:r>
            <a:r>
              <a:rPr lang="pt-BR" dirty="0" smtClean="0"/>
              <a:t> AVR8 </a:t>
            </a:r>
            <a:r>
              <a:rPr lang="pt-BR" dirty="0" err="1" smtClean="0"/>
              <a:t>microcontroller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3245177" cy="4024125"/>
          </a:xfrm>
        </p:spPr>
        <p:txBody>
          <a:bodyPr>
            <a:normAutofit/>
          </a:bodyPr>
          <a:lstStyle/>
          <a:p>
            <a:r>
              <a:rPr lang="en-US" dirty="0" smtClean="0"/>
              <a:t>This Hands On will use </a:t>
            </a:r>
            <a:r>
              <a:rPr lang="en-US" b="1" dirty="0" smtClean="0"/>
              <a:t>mega128rfa1</a:t>
            </a:r>
            <a:r>
              <a:rPr lang="en-US" dirty="0" smtClean="0"/>
              <a:t> to support </a:t>
            </a:r>
            <a:r>
              <a:rPr lang="en-US" b="1" dirty="0" smtClean="0"/>
              <a:t>KITRFA1</a:t>
            </a:r>
            <a:r>
              <a:rPr lang="en-US" dirty="0" smtClean="0"/>
              <a:t> &amp; </a:t>
            </a:r>
            <a:r>
              <a:rPr lang="en-US" b="1" dirty="0" smtClean="0"/>
              <a:t>WM-100-DUINO</a:t>
            </a:r>
          </a:p>
          <a:p>
            <a:r>
              <a:rPr lang="en-US" dirty="0" smtClean="0"/>
              <a:t>Now, you have a Solution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311" y="1968521"/>
            <a:ext cx="6415888" cy="447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481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19001"/>
            <a:ext cx="10820399" cy="738399"/>
          </a:xfrm>
        </p:spPr>
        <p:txBody>
          <a:bodyPr/>
          <a:lstStyle/>
          <a:p>
            <a:pPr algn="l"/>
            <a:r>
              <a:rPr lang="pt-BR" dirty="0" err="1" smtClean="0"/>
              <a:t>Rename</a:t>
            </a:r>
            <a:r>
              <a:rPr lang="pt-BR" dirty="0" smtClean="0"/>
              <a:t> avr8 Project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3245177" cy="4024125"/>
          </a:xfrm>
        </p:spPr>
        <p:txBody>
          <a:bodyPr>
            <a:normAutofit/>
          </a:bodyPr>
          <a:lstStyle/>
          <a:p>
            <a:r>
              <a:rPr lang="en-US" dirty="0" smtClean="0"/>
              <a:t>Rename is necessary to distinguish between AVR8 and Cortex-M projects</a:t>
            </a:r>
          </a:p>
          <a:p>
            <a:r>
              <a:rPr lang="en-US" dirty="0" smtClean="0"/>
              <a:t>Rename from </a:t>
            </a:r>
            <a:r>
              <a:rPr lang="en-US" b="1" dirty="0" err="1" smtClean="0"/>
              <a:t>HandsOn</a:t>
            </a:r>
            <a:r>
              <a:rPr lang="en-US" dirty="0" smtClean="0"/>
              <a:t> to </a:t>
            </a:r>
            <a:r>
              <a:rPr lang="en-US" b="1" dirty="0" err="1" smtClean="0"/>
              <a:t>HandsOn_AVR</a:t>
            </a:r>
            <a:endParaRPr lang="en-US" b="1" dirty="0" smtClean="0"/>
          </a:p>
          <a:p>
            <a:r>
              <a:rPr lang="en-US" dirty="0" smtClean="0"/>
              <a:t>Now, you have a solution called </a:t>
            </a:r>
            <a:r>
              <a:rPr lang="en-US" b="1" dirty="0" err="1" smtClean="0"/>
              <a:t>HandsOn</a:t>
            </a:r>
            <a:r>
              <a:rPr lang="en-US" dirty="0" smtClean="0"/>
              <a:t> and a project called </a:t>
            </a:r>
            <a:r>
              <a:rPr lang="en-US" b="1" dirty="0" err="1" smtClean="0"/>
              <a:t>HandsOn_AVR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941" y="627510"/>
            <a:ext cx="3514725" cy="55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992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19001"/>
            <a:ext cx="10820399" cy="738399"/>
          </a:xfrm>
        </p:spPr>
        <p:txBody>
          <a:bodyPr/>
          <a:lstStyle/>
          <a:p>
            <a:pPr algn="l"/>
            <a:r>
              <a:rPr lang="pt-BR" dirty="0" err="1" smtClean="0"/>
              <a:t>Create</a:t>
            </a:r>
            <a:r>
              <a:rPr lang="pt-BR" dirty="0" smtClean="0"/>
              <a:t> ARM Project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3245177" cy="402412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Follow the same steps to create a project</a:t>
            </a:r>
          </a:p>
          <a:p>
            <a:r>
              <a:rPr lang="en-US" dirty="0" smtClean="0"/>
              <a:t>Set application name to </a:t>
            </a:r>
            <a:r>
              <a:rPr lang="en-US" b="1" dirty="0" err="1" smtClean="0"/>
              <a:t>HandsOn_ARM</a:t>
            </a:r>
            <a:endParaRPr lang="en-US" b="1" dirty="0" smtClean="0"/>
          </a:p>
          <a:p>
            <a:r>
              <a:rPr lang="en-US" dirty="0" smtClean="0"/>
              <a:t>Set Solution to </a:t>
            </a:r>
            <a:r>
              <a:rPr lang="en-US" b="1" dirty="0" smtClean="0"/>
              <a:t>Create new Solution</a:t>
            </a:r>
          </a:p>
          <a:p>
            <a:r>
              <a:rPr lang="en-US" dirty="0" smtClean="0"/>
              <a:t>Press </a:t>
            </a:r>
            <a:r>
              <a:rPr lang="en-US" b="1" dirty="0" smtClean="0"/>
              <a:t>OK</a:t>
            </a:r>
            <a:r>
              <a:rPr lang="en-US" dirty="0" smtClean="0"/>
              <a:t> and </a:t>
            </a:r>
            <a:r>
              <a:rPr lang="en-US" b="1" dirty="0" smtClean="0"/>
              <a:t>close solution</a:t>
            </a:r>
          </a:p>
          <a:p>
            <a:r>
              <a:rPr lang="en-US" dirty="0" smtClean="0"/>
              <a:t>Select Cortex-M microcontroller model </a:t>
            </a:r>
            <a:r>
              <a:rPr lang="en-US" b="1" dirty="0" smtClean="0"/>
              <a:t>ATSAM4LC4B</a:t>
            </a:r>
          </a:p>
          <a:p>
            <a:r>
              <a:rPr lang="en-US" dirty="0" smtClean="0"/>
              <a:t>Now, you have a </a:t>
            </a:r>
            <a:r>
              <a:rPr lang="en-US" b="1" dirty="0" smtClean="0"/>
              <a:t>ARM Project </a:t>
            </a:r>
            <a:r>
              <a:rPr lang="en-US" dirty="0" smtClean="0"/>
              <a:t>to be added in Solution </a:t>
            </a:r>
            <a:r>
              <a:rPr lang="en-US" b="1" dirty="0" err="1" smtClean="0"/>
              <a:t>HandsOn</a:t>
            </a:r>
            <a:endParaRPr lang="en-US" b="1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431" y="2194560"/>
            <a:ext cx="5907186" cy="335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60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19001"/>
            <a:ext cx="10820399" cy="738399"/>
          </a:xfrm>
        </p:spPr>
        <p:txBody>
          <a:bodyPr/>
          <a:lstStyle/>
          <a:p>
            <a:pPr algn="l"/>
            <a:r>
              <a:rPr lang="pt-BR" dirty="0" smtClean="0"/>
              <a:t>COPY </a:t>
            </a:r>
            <a:r>
              <a:rPr lang="pt-BR" dirty="0" err="1" smtClean="0"/>
              <a:t>arm</a:t>
            </a:r>
            <a:r>
              <a:rPr lang="pt-BR" dirty="0" smtClean="0"/>
              <a:t> </a:t>
            </a:r>
            <a:r>
              <a:rPr lang="pt-BR" dirty="0" err="1" smtClean="0"/>
              <a:t>project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3245177" cy="4024125"/>
          </a:xfrm>
        </p:spPr>
        <p:txBody>
          <a:bodyPr>
            <a:normAutofit/>
          </a:bodyPr>
          <a:lstStyle/>
          <a:p>
            <a:r>
              <a:rPr lang="en-US" dirty="0" smtClean="0"/>
              <a:t>Go to your project location</a:t>
            </a:r>
          </a:p>
          <a:p>
            <a:r>
              <a:rPr lang="en-US" dirty="0" smtClean="0"/>
              <a:t>Look, you have two solutions</a:t>
            </a:r>
          </a:p>
          <a:p>
            <a:r>
              <a:rPr lang="en-US" dirty="0" smtClean="0"/>
              <a:t>Copy from solution </a:t>
            </a:r>
            <a:r>
              <a:rPr lang="en-US" b="1" dirty="0" err="1" smtClean="0"/>
              <a:t>HandsOn_ARM</a:t>
            </a:r>
            <a:r>
              <a:rPr lang="en-US" dirty="0" smtClean="0"/>
              <a:t> the project named </a:t>
            </a:r>
            <a:r>
              <a:rPr lang="en-US" b="1" dirty="0" err="1" smtClean="0"/>
              <a:t>HandsOn_ARM.cproj</a:t>
            </a:r>
            <a:r>
              <a:rPr lang="en-US" dirty="0" smtClean="0"/>
              <a:t> to solution </a:t>
            </a:r>
            <a:r>
              <a:rPr lang="en-US" b="1" dirty="0" err="1" smtClean="0"/>
              <a:t>HandsOn</a:t>
            </a:r>
            <a:endParaRPr lang="en-US" b="1" dirty="0" smtClean="0"/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977" y="2348966"/>
            <a:ext cx="8105775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692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19001"/>
            <a:ext cx="10820399" cy="738399"/>
          </a:xfrm>
        </p:spPr>
        <p:txBody>
          <a:bodyPr/>
          <a:lstStyle/>
          <a:p>
            <a:pPr algn="l"/>
            <a:r>
              <a:rPr lang="pt-BR" dirty="0" smtClean="0"/>
              <a:t>Re open </a:t>
            </a:r>
            <a:r>
              <a:rPr lang="pt-BR" dirty="0" err="1" smtClean="0"/>
              <a:t>hands</a:t>
            </a:r>
            <a:r>
              <a:rPr lang="pt-BR" dirty="0" smtClean="0"/>
              <a:t> </a:t>
            </a:r>
            <a:r>
              <a:rPr lang="pt-BR" dirty="0" err="1" smtClean="0"/>
              <a:t>on</a:t>
            </a:r>
            <a:r>
              <a:rPr lang="pt-BR" dirty="0" smtClean="0"/>
              <a:t> </a:t>
            </a:r>
            <a:r>
              <a:rPr lang="pt-BR" dirty="0" err="1" smtClean="0"/>
              <a:t>solution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3245177" cy="4024125"/>
          </a:xfrm>
        </p:spPr>
        <p:txBody>
          <a:bodyPr>
            <a:normAutofit/>
          </a:bodyPr>
          <a:lstStyle/>
          <a:p>
            <a:r>
              <a:rPr lang="en-US" dirty="0" smtClean="0"/>
              <a:t>This is need to create a multi target solution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149" y="2057400"/>
            <a:ext cx="7258050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545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19001"/>
            <a:ext cx="10820399" cy="738399"/>
          </a:xfrm>
        </p:spPr>
        <p:txBody>
          <a:bodyPr/>
          <a:lstStyle/>
          <a:p>
            <a:pPr algn="l"/>
            <a:r>
              <a:rPr lang="pt-BR" dirty="0" err="1" smtClean="0"/>
              <a:t>Create</a:t>
            </a:r>
            <a:r>
              <a:rPr lang="pt-BR" dirty="0" smtClean="0"/>
              <a:t> </a:t>
            </a:r>
            <a:r>
              <a:rPr lang="pt-BR" dirty="0" err="1" smtClean="0"/>
              <a:t>multi</a:t>
            </a:r>
            <a:r>
              <a:rPr lang="pt-BR" dirty="0" smtClean="0"/>
              <a:t> </a:t>
            </a:r>
            <a:r>
              <a:rPr lang="pt-BR" dirty="0" err="1" smtClean="0"/>
              <a:t>target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3245177" cy="4024125"/>
          </a:xfrm>
        </p:spPr>
        <p:txBody>
          <a:bodyPr>
            <a:normAutofit/>
          </a:bodyPr>
          <a:lstStyle/>
          <a:p>
            <a:r>
              <a:rPr lang="en-US" dirty="0" smtClean="0"/>
              <a:t>Add </a:t>
            </a:r>
            <a:r>
              <a:rPr lang="en-US" b="1" dirty="0" err="1" smtClean="0"/>
              <a:t>HandsOn_ARM</a:t>
            </a:r>
            <a:r>
              <a:rPr lang="en-US" b="1" dirty="0" smtClean="0"/>
              <a:t> </a:t>
            </a:r>
            <a:r>
              <a:rPr lang="en-US" dirty="0" smtClean="0"/>
              <a:t>project to your </a:t>
            </a:r>
            <a:r>
              <a:rPr lang="en-US" b="1" dirty="0" err="1" smtClean="0"/>
              <a:t>HandsOn</a:t>
            </a:r>
            <a:r>
              <a:rPr lang="en-US" b="1" dirty="0" smtClean="0"/>
              <a:t> </a:t>
            </a:r>
            <a:r>
              <a:rPr lang="en-US" dirty="0" smtClean="0"/>
              <a:t>Solution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061908"/>
            <a:ext cx="5194411" cy="47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137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19001"/>
            <a:ext cx="10820399" cy="738399"/>
          </a:xfrm>
        </p:spPr>
        <p:txBody>
          <a:bodyPr/>
          <a:lstStyle/>
          <a:p>
            <a:pPr algn="l"/>
            <a:r>
              <a:rPr lang="pt-BR" dirty="0" err="1" smtClean="0"/>
              <a:t>Create</a:t>
            </a:r>
            <a:r>
              <a:rPr lang="pt-BR" dirty="0" smtClean="0"/>
              <a:t> </a:t>
            </a:r>
            <a:r>
              <a:rPr lang="pt-BR" dirty="0" err="1" smtClean="0"/>
              <a:t>multi</a:t>
            </a:r>
            <a:r>
              <a:rPr lang="pt-BR" dirty="0" smtClean="0"/>
              <a:t> </a:t>
            </a:r>
            <a:r>
              <a:rPr lang="pt-BR" dirty="0" err="1" smtClean="0"/>
              <a:t>target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3805280" cy="4024125"/>
          </a:xfrm>
        </p:spPr>
        <p:txBody>
          <a:bodyPr>
            <a:normAutofit/>
          </a:bodyPr>
          <a:lstStyle/>
          <a:p>
            <a:r>
              <a:rPr lang="en-US" dirty="0" smtClean="0"/>
              <a:t>Add </a:t>
            </a:r>
            <a:r>
              <a:rPr lang="en-US" b="1" dirty="0" err="1" smtClean="0"/>
              <a:t>HandsOn_ARM</a:t>
            </a:r>
            <a:r>
              <a:rPr lang="en-US" b="1" dirty="0" smtClean="0"/>
              <a:t> </a:t>
            </a:r>
            <a:r>
              <a:rPr lang="en-US" dirty="0" smtClean="0"/>
              <a:t>project to your </a:t>
            </a:r>
            <a:r>
              <a:rPr lang="en-US" b="1" dirty="0" err="1" smtClean="0"/>
              <a:t>HandsOn</a:t>
            </a:r>
            <a:r>
              <a:rPr lang="en-US" b="1" dirty="0" smtClean="0"/>
              <a:t> </a:t>
            </a:r>
            <a:r>
              <a:rPr lang="en-US" dirty="0" smtClean="0"/>
              <a:t>Solution</a:t>
            </a:r>
          </a:p>
          <a:p>
            <a:r>
              <a:rPr lang="en-US" dirty="0" smtClean="0"/>
              <a:t>Remove </a:t>
            </a:r>
            <a:r>
              <a:rPr lang="en-US" b="1" dirty="0" err="1" smtClean="0"/>
              <a:t>cmsis</a:t>
            </a:r>
            <a:r>
              <a:rPr lang="en-US" dirty="0" smtClean="0"/>
              <a:t> folder and </a:t>
            </a:r>
            <a:r>
              <a:rPr lang="en-US" b="1" dirty="0" err="1" smtClean="0">
                <a:solidFill>
                  <a:srgbClr val="FF0000"/>
                </a:solidFill>
              </a:rPr>
              <a:t>HandsOn_ARM.c</a:t>
            </a:r>
            <a:r>
              <a:rPr lang="en-US" dirty="0" smtClean="0"/>
              <a:t> file from </a:t>
            </a:r>
            <a:r>
              <a:rPr lang="en-US" dirty="0" err="1" smtClean="0"/>
              <a:t>HandsOn_ARM</a:t>
            </a:r>
            <a:r>
              <a:rPr lang="en-US" dirty="0" smtClean="0"/>
              <a:t> project and select </a:t>
            </a:r>
            <a:r>
              <a:rPr lang="en-US" b="1" dirty="0" smtClean="0"/>
              <a:t>delete</a:t>
            </a:r>
            <a:r>
              <a:rPr lang="en-US" dirty="0" smtClean="0"/>
              <a:t> option</a:t>
            </a:r>
          </a:p>
          <a:p>
            <a:r>
              <a:rPr lang="en-US" dirty="0" smtClean="0"/>
              <a:t>Add </a:t>
            </a:r>
            <a:r>
              <a:rPr lang="en-US" b="1" dirty="0" err="1" smtClean="0">
                <a:solidFill>
                  <a:srgbClr val="00B050"/>
                </a:solidFill>
              </a:rPr>
              <a:t>HandsOn.c</a:t>
            </a:r>
            <a:r>
              <a:rPr lang="en-US" dirty="0" smtClean="0"/>
              <a:t> file to </a:t>
            </a:r>
            <a:r>
              <a:rPr lang="en-US" dirty="0" err="1" smtClean="0"/>
              <a:t>HandsOn_ARM</a:t>
            </a:r>
            <a:r>
              <a:rPr lang="en-US" dirty="0" smtClean="0"/>
              <a:t> project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174" y="2057400"/>
            <a:ext cx="5534025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107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19001"/>
            <a:ext cx="10820399" cy="738399"/>
          </a:xfrm>
        </p:spPr>
        <p:txBody>
          <a:bodyPr/>
          <a:lstStyle/>
          <a:p>
            <a:pPr algn="l"/>
            <a:r>
              <a:rPr lang="pt-BR" dirty="0" err="1" smtClean="0"/>
              <a:t>Create</a:t>
            </a:r>
            <a:r>
              <a:rPr lang="pt-BR" dirty="0" smtClean="0"/>
              <a:t> </a:t>
            </a:r>
            <a:r>
              <a:rPr lang="pt-BR" dirty="0" err="1" smtClean="0"/>
              <a:t>multi</a:t>
            </a:r>
            <a:r>
              <a:rPr lang="pt-BR" dirty="0" smtClean="0"/>
              <a:t> </a:t>
            </a:r>
            <a:r>
              <a:rPr lang="pt-BR" dirty="0" err="1" smtClean="0"/>
              <a:t>target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3805280" cy="4024125"/>
          </a:xfrm>
        </p:spPr>
        <p:txBody>
          <a:bodyPr>
            <a:normAutofit/>
          </a:bodyPr>
          <a:lstStyle/>
          <a:p>
            <a:r>
              <a:rPr lang="en-US" dirty="0" smtClean="0"/>
              <a:t>Now, you have a Solution called </a:t>
            </a:r>
            <a:r>
              <a:rPr lang="en-US" b="1" dirty="0" err="1" smtClean="0"/>
              <a:t>HandsOn</a:t>
            </a:r>
            <a:r>
              <a:rPr lang="en-US" dirty="0" smtClean="0"/>
              <a:t> and two projects </a:t>
            </a:r>
            <a:r>
              <a:rPr lang="en-US" b="1" dirty="0" err="1" smtClean="0"/>
              <a:t>HandsOn_AVR</a:t>
            </a:r>
            <a:r>
              <a:rPr lang="en-US" dirty="0" smtClean="0"/>
              <a:t> &amp; </a:t>
            </a:r>
            <a:r>
              <a:rPr lang="en-US" b="1" dirty="0" err="1" smtClean="0"/>
              <a:t>HandsOn_ARM</a:t>
            </a:r>
            <a:endParaRPr lang="en-US" b="1" dirty="0" smtClean="0"/>
          </a:p>
          <a:p>
            <a:r>
              <a:rPr lang="en-US" dirty="0" smtClean="0"/>
              <a:t>Any changes in the </a:t>
            </a:r>
            <a:r>
              <a:rPr lang="en-US" b="1" dirty="0" err="1" smtClean="0"/>
              <a:t>HandsOn.c</a:t>
            </a:r>
            <a:r>
              <a:rPr lang="en-US" dirty="0" smtClean="0"/>
              <a:t> file will reflect in both projects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9" y="2057400"/>
            <a:ext cx="5562600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556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19001"/>
            <a:ext cx="10820399" cy="738399"/>
          </a:xfrm>
        </p:spPr>
        <p:txBody>
          <a:bodyPr/>
          <a:lstStyle/>
          <a:p>
            <a:pPr algn="l"/>
            <a:r>
              <a:rPr lang="en-US" dirty="0"/>
              <a:t>Parametric </a:t>
            </a:r>
            <a:r>
              <a:rPr lang="en-US" dirty="0" smtClean="0"/>
              <a:t> </a:t>
            </a:r>
            <a:r>
              <a:rPr lang="en-US" dirty="0" err="1" smtClean="0"/>
              <a:t>Makefile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10740154" cy="4024125"/>
          </a:xfrm>
        </p:spPr>
        <p:txBody>
          <a:bodyPr>
            <a:normAutofit/>
          </a:bodyPr>
          <a:lstStyle/>
          <a:p>
            <a:r>
              <a:rPr lang="en-US" dirty="0" err="1" smtClean="0"/>
              <a:t>Makefile</a:t>
            </a:r>
            <a:r>
              <a:rPr lang="en-US" dirty="0" smtClean="0"/>
              <a:t> is very known. Any GCC programmer known about that.</a:t>
            </a:r>
          </a:p>
          <a:p>
            <a:r>
              <a:rPr lang="en-US" dirty="0" smtClean="0"/>
              <a:t>The Atmel Studio by default uses IDE environment to compile and debug. So, no </a:t>
            </a:r>
            <a:r>
              <a:rPr lang="en-US" dirty="0" err="1" smtClean="0"/>
              <a:t>makefile</a:t>
            </a:r>
            <a:r>
              <a:rPr lang="en-US" dirty="0" smtClean="0"/>
              <a:t> by default.</a:t>
            </a:r>
          </a:p>
          <a:p>
            <a:r>
              <a:rPr lang="en-US" dirty="0" smtClean="0"/>
              <a:t>Aiming </a:t>
            </a:r>
            <a:r>
              <a:rPr lang="en-US" dirty="0"/>
              <a:t>to improve and gain speed </a:t>
            </a:r>
            <a:r>
              <a:rPr lang="en-US" dirty="0" smtClean="0"/>
              <a:t>development WM Series uses </a:t>
            </a:r>
            <a:r>
              <a:rPr lang="en-US" b="1" dirty="0" smtClean="0"/>
              <a:t>Atmel Software Framework – ASF</a:t>
            </a:r>
            <a:r>
              <a:rPr lang="en-US" dirty="0" smtClean="0"/>
              <a:t> with </a:t>
            </a:r>
            <a:r>
              <a:rPr lang="en-US" dirty="0" err="1" smtClean="0"/>
              <a:t>Makefiles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Makefile</a:t>
            </a:r>
            <a:r>
              <a:rPr lang="en-US" dirty="0" smtClean="0"/>
              <a:t> </a:t>
            </a:r>
            <a:r>
              <a:rPr lang="en-US" dirty="0"/>
              <a:t>files were written with the intention of using </a:t>
            </a:r>
            <a:r>
              <a:rPr lang="en-US" dirty="0" smtClean="0"/>
              <a:t>build </a:t>
            </a:r>
            <a:r>
              <a:rPr lang="en-US" dirty="0"/>
              <a:t>parameters. This allow create a parametric </a:t>
            </a:r>
            <a:r>
              <a:rPr lang="en-US" dirty="0" err="1"/>
              <a:t>makefile</a:t>
            </a:r>
            <a:r>
              <a:rPr lang="en-US" dirty="0"/>
              <a:t> to be used in project definition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3030804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19001"/>
            <a:ext cx="10820399" cy="738399"/>
          </a:xfrm>
        </p:spPr>
        <p:txBody>
          <a:bodyPr/>
          <a:lstStyle/>
          <a:p>
            <a:pPr algn="l"/>
            <a:r>
              <a:rPr lang="en-US" dirty="0"/>
              <a:t>Parametric  </a:t>
            </a:r>
            <a:r>
              <a:rPr lang="en-US" dirty="0" err="1"/>
              <a:t>Makefile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5601712" cy="4024125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First, you must change project build configuration</a:t>
            </a:r>
          </a:p>
          <a:p>
            <a:r>
              <a:rPr lang="en-US" dirty="0" smtClean="0"/>
              <a:t>Select </a:t>
            </a:r>
            <a:r>
              <a:rPr lang="en-US" b="1" dirty="0" smtClean="0"/>
              <a:t>Use External </a:t>
            </a:r>
            <a:r>
              <a:rPr lang="en-US" b="1" dirty="0" err="1" smtClean="0"/>
              <a:t>Makefile</a:t>
            </a:r>
            <a:endParaRPr lang="en-US" b="1" dirty="0" smtClean="0"/>
          </a:p>
          <a:p>
            <a:r>
              <a:rPr lang="en-US" dirty="0" smtClean="0"/>
              <a:t>Set </a:t>
            </a:r>
            <a:r>
              <a:rPr lang="en-US" dirty="0" err="1" smtClean="0"/>
              <a:t>Makefile</a:t>
            </a:r>
            <a:r>
              <a:rPr lang="en-US" dirty="0" smtClean="0"/>
              <a:t> Name to </a:t>
            </a:r>
            <a:r>
              <a:rPr lang="en-US" b="1" dirty="0" err="1" smtClean="0"/>
              <a:t>Makefile_AVR</a:t>
            </a:r>
            <a:endParaRPr lang="en-US" dirty="0" smtClean="0"/>
          </a:p>
          <a:p>
            <a:r>
              <a:rPr lang="en-US" dirty="0" smtClean="0"/>
              <a:t>Save &amp; close project options</a:t>
            </a:r>
          </a:p>
          <a:p>
            <a:r>
              <a:rPr lang="en-US" dirty="0" smtClean="0"/>
              <a:t>Repeat this step in </a:t>
            </a:r>
            <a:r>
              <a:rPr lang="en-US" dirty="0" err="1" smtClean="0"/>
              <a:t>HandsOn_ARM</a:t>
            </a:r>
            <a:r>
              <a:rPr lang="en-US" dirty="0" smtClean="0"/>
              <a:t> project and set </a:t>
            </a:r>
            <a:r>
              <a:rPr lang="en-US" dirty="0" err="1" smtClean="0"/>
              <a:t>Makefile</a:t>
            </a:r>
            <a:r>
              <a:rPr lang="en-US" dirty="0" smtClean="0"/>
              <a:t> Name to </a:t>
            </a:r>
            <a:r>
              <a:rPr lang="en-US" b="1" dirty="0" err="1" smtClean="0"/>
              <a:t>Makefile_ARM</a:t>
            </a:r>
            <a:endParaRPr lang="en-US" b="1" dirty="0" smtClean="0"/>
          </a:p>
          <a:p>
            <a:r>
              <a:rPr lang="en-US" dirty="0" smtClean="0"/>
              <a:t>Copy any </a:t>
            </a:r>
            <a:r>
              <a:rPr lang="en-US" dirty="0" err="1" smtClean="0"/>
              <a:t>makefile</a:t>
            </a:r>
            <a:r>
              <a:rPr lang="en-US" dirty="0" smtClean="0"/>
              <a:t>_&lt;target&gt; from another sample project and add to both projects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928" y="1319001"/>
            <a:ext cx="5316467" cy="532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398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19001"/>
            <a:ext cx="10820399" cy="738399"/>
          </a:xfrm>
        </p:spPr>
        <p:txBody>
          <a:bodyPr/>
          <a:lstStyle/>
          <a:p>
            <a:pPr algn="l"/>
            <a:r>
              <a:rPr lang="en-US" dirty="0"/>
              <a:t>Parametric  </a:t>
            </a:r>
            <a:r>
              <a:rPr lang="en-US" dirty="0" err="1"/>
              <a:t>Makefile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4913888" cy="4024125"/>
          </a:xfrm>
        </p:spPr>
        <p:txBody>
          <a:bodyPr>
            <a:normAutofit/>
          </a:bodyPr>
          <a:lstStyle/>
          <a:p>
            <a:r>
              <a:rPr lang="en-US" dirty="0" smtClean="0"/>
              <a:t>Now, you have configured a multi target solution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219" y="2057400"/>
            <a:ext cx="619125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640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19001"/>
            <a:ext cx="10820399" cy="738399"/>
          </a:xfrm>
        </p:spPr>
        <p:txBody>
          <a:bodyPr/>
          <a:lstStyle/>
          <a:p>
            <a:pPr algn="l"/>
            <a:r>
              <a:rPr lang="en-US" dirty="0"/>
              <a:t>Blink a LED from scratch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4913888" cy="4024125"/>
          </a:xfrm>
        </p:spPr>
        <p:txBody>
          <a:bodyPr>
            <a:normAutofit/>
          </a:bodyPr>
          <a:lstStyle/>
          <a:p>
            <a:r>
              <a:rPr lang="en-US" dirty="0" smtClean="0"/>
              <a:t>To compile work, the project must have all </a:t>
            </a:r>
            <a:r>
              <a:rPr lang="en-US" b="1" dirty="0" smtClean="0"/>
              <a:t>ASF </a:t>
            </a:r>
            <a:r>
              <a:rPr lang="en-US" b="1" dirty="0" err="1" smtClean="0"/>
              <a:t>conf</a:t>
            </a:r>
            <a:r>
              <a:rPr lang="en-US" dirty="0" smtClean="0"/>
              <a:t> file</a:t>
            </a:r>
          </a:p>
          <a:p>
            <a:r>
              <a:rPr lang="en-US" dirty="0" smtClean="0"/>
              <a:t>The minimal necessary files are:</a:t>
            </a:r>
          </a:p>
          <a:p>
            <a:pPr lvl="1"/>
            <a:r>
              <a:rPr lang="en-US" dirty="0" err="1" smtClean="0"/>
              <a:t>conf_board.h</a:t>
            </a:r>
            <a:endParaRPr lang="en-US" dirty="0" smtClean="0"/>
          </a:p>
          <a:p>
            <a:pPr lvl="1"/>
            <a:r>
              <a:rPr lang="en-US" dirty="0" err="1" smtClean="0"/>
              <a:t>conf_sysclk.h</a:t>
            </a:r>
            <a:endParaRPr lang="en-US" dirty="0" smtClean="0"/>
          </a:p>
          <a:p>
            <a:pPr lvl="1"/>
            <a:r>
              <a:rPr lang="en-US" dirty="0" err="1" smtClean="0"/>
              <a:t>conf_sleepmgr.h</a:t>
            </a:r>
            <a:endParaRPr lang="en-US" dirty="0" smtClean="0"/>
          </a:p>
          <a:p>
            <a:r>
              <a:rPr lang="en-US" dirty="0" smtClean="0"/>
              <a:t>Create a folder called </a:t>
            </a:r>
            <a:r>
              <a:rPr lang="en-US" b="1" dirty="0" err="1" smtClean="0"/>
              <a:t>config</a:t>
            </a:r>
            <a:r>
              <a:rPr lang="en-US" b="1" dirty="0" smtClean="0"/>
              <a:t>_&lt;target&gt;</a:t>
            </a:r>
          </a:p>
          <a:p>
            <a:r>
              <a:rPr lang="en-US" dirty="0" smtClean="0"/>
              <a:t>Copy the samples files to each specific folder and add to correct project</a:t>
            </a:r>
          </a:p>
          <a:p>
            <a:endParaRPr lang="en-US" b="1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999" y="1687259"/>
            <a:ext cx="3505200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4460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19001"/>
            <a:ext cx="10820399" cy="738399"/>
          </a:xfrm>
        </p:spPr>
        <p:txBody>
          <a:bodyPr/>
          <a:lstStyle/>
          <a:p>
            <a:pPr algn="l"/>
            <a:r>
              <a:rPr lang="en-US" dirty="0"/>
              <a:t>Blink a LED from scratch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4913888" cy="4024125"/>
          </a:xfrm>
        </p:spPr>
        <p:txBody>
          <a:bodyPr>
            <a:normAutofit/>
          </a:bodyPr>
          <a:lstStyle/>
          <a:p>
            <a:r>
              <a:rPr lang="en-US" dirty="0" smtClean="0"/>
              <a:t>Write Blink a led application</a:t>
            </a:r>
          </a:p>
          <a:p>
            <a:r>
              <a:rPr lang="en-US" dirty="0" smtClean="0"/>
              <a:t>To compile code:</a:t>
            </a:r>
          </a:p>
          <a:p>
            <a:pPr lvl="1"/>
            <a:r>
              <a:rPr lang="en-US" dirty="0" smtClean="0"/>
              <a:t>Select AVR project &amp; click build</a:t>
            </a:r>
          </a:p>
          <a:p>
            <a:pPr lvl="1"/>
            <a:r>
              <a:rPr lang="en-US" dirty="0"/>
              <a:t>Select </a:t>
            </a:r>
            <a:r>
              <a:rPr lang="en-US" dirty="0" smtClean="0"/>
              <a:t>ARM </a:t>
            </a:r>
            <a:r>
              <a:rPr lang="en-US" dirty="0"/>
              <a:t>project &amp; click </a:t>
            </a:r>
            <a:r>
              <a:rPr lang="en-US" dirty="0" smtClean="0"/>
              <a:t>build</a:t>
            </a:r>
          </a:p>
          <a:p>
            <a:pPr lvl="1"/>
            <a:endParaRPr lang="en-US" dirty="0"/>
          </a:p>
          <a:p>
            <a:r>
              <a:rPr lang="en-US" dirty="0" smtClean="0"/>
              <a:t>Note: F7 will build only the </a:t>
            </a:r>
            <a:r>
              <a:rPr lang="en-US" b="1" dirty="0" smtClean="0"/>
              <a:t>Start Up Project</a:t>
            </a:r>
          </a:p>
          <a:p>
            <a:pPr lvl="1"/>
            <a:r>
              <a:rPr lang="en-US" dirty="0" smtClean="0"/>
              <a:t>The Start Up Project is in</a:t>
            </a:r>
            <a:r>
              <a:rPr lang="en-US" b="1" dirty="0" smtClean="0"/>
              <a:t> BOLD</a:t>
            </a:r>
          </a:p>
          <a:p>
            <a:endParaRPr lang="en-US" b="1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253" y="2057399"/>
            <a:ext cx="5973458" cy="416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2001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19001"/>
            <a:ext cx="10820399" cy="738399"/>
          </a:xfrm>
        </p:spPr>
        <p:txBody>
          <a:bodyPr/>
          <a:lstStyle/>
          <a:p>
            <a:pPr algn="l"/>
            <a:r>
              <a:rPr lang="en-US" dirty="0"/>
              <a:t>Upload firmware with </a:t>
            </a:r>
            <a:r>
              <a:rPr lang="en-US" dirty="0" err="1"/>
              <a:t>AVRxPROG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9356416" cy="4024125"/>
          </a:xfrm>
        </p:spPr>
        <p:txBody>
          <a:bodyPr>
            <a:normAutofit fontScale="85000" lnSpcReduction="20000"/>
          </a:bodyPr>
          <a:lstStyle/>
          <a:p>
            <a:pPr lvl="1"/>
            <a:r>
              <a:rPr lang="en-US" i="1" dirty="0"/>
              <a:t>KITRFA1:</a:t>
            </a:r>
          </a:p>
          <a:p>
            <a:pPr lvl="2"/>
            <a:r>
              <a:rPr lang="en-US" i="1" dirty="0"/>
              <a:t>Power Off kit</a:t>
            </a:r>
          </a:p>
          <a:p>
            <a:pPr lvl="2"/>
            <a:r>
              <a:rPr lang="en-US" i="1" dirty="0"/>
              <a:t>Press SWITCH key</a:t>
            </a:r>
          </a:p>
          <a:p>
            <a:pPr lvl="2"/>
            <a:r>
              <a:rPr lang="en-US" i="1" dirty="0"/>
              <a:t>Power On kit</a:t>
            </a:r>
          </a:p>
          <a:p>
            <a:pPr lvl="2"/>
            <a:r>
              <a:rPr lang="en-US" i="1" dirty="0"/>
              <a:t>LED 3 blink 5 times</a:t>
            </a:r>
          </a:p>
          <a:p>
            <a:pPr lvl="2"/>
            <a:r>
              <a:rPr lang="en-US" i="1" dirty="0"/>
              <a:t>(auto) Kit waiting </a:t>
            </a:r>
            <a:r>
              <a:rPr lang="en-US" i="1" dirty="0" err="1" smtClean="0"/>
              <a:t>AVRxPROG</a:t>
            </a:r>
            <a:endParaRPr lang="en-US" i="1" dirty="0" smtClean="0"/>
          </a:p>
          <a:p>
            <a:pPr lvl="2"/>
            <a:r>
              <a:rPr lang="en-US" i="1" dirty="0" smtClean="0"/>
              <a:t>(auto) </a:t>
            </a:r>
            <a:r>
              <a:rPr lang="en-US" i="1" dirty="0" err="1" smtClean="0"/>
              <a:t>AVRxPROG</a:t>
            </a:r>
            <a:r>
              <a:rPr lang="en-US" i="1" dirty="0" smtClean="0"/>
              <a:t> will program KIT (</a:t>
            </a:r>
            <a:r>
              <a:rPr lang="en-US" i="1" dirty="0" smtClean="0">
                <a:solidFill>
                  <a:srgbClr val="0070C0"/>
                </a:solidFill>
              </a:rPr>
              <a:t>next slide</a:t>
            </a:r>
            <a:r>
              <a:rPr lang="en-US" i="1" dirty="0" smtClean="0"/>
              <a:t>)</a:t>
            </a:r>
            <a:endParaRPr lang="en-US" i="1" dirty="0"/>
          </a:p>
          <a:p>
            <a:pPr lvl="2"/>
            <a:r>
              <a:rPr lang="en-US" i="1" dirty="0"/>
              <a:t>(auto) </a:t>
            </a:r>
            <a:r>
              <a:rPr lang="en-US" i="1" dirty="0" err="1"/>
              <a:t>AVRxPROG</a:t>
            </a:r>
            <a:r>
              <a:rPr lang="en-US" i="1" dirty="0"/>
              <a:t> </a:t>
            </a:r>
            <a:r>
              <a:rPr lang="en-US" i="1" dirty="0" smtClean="0"/>
              <a:t>send exit from </a:t>
            </a:r>
            <a:r>
              <a:rPr lang="en-US" i="1" dirty="0" err="1" smtClean="0"/>
              <a:t>bootloader</a:t>
            </a:r>
            <a:endParaRPr lang="en-US" i="1" dirty="0"/>
          </a:p>
          <a:p>
            <a:pPr lvl="2"/>
            <a:r>
              <a:rPr lang="en-US" i="1" dirty="0"/>
              <a:t>(auto) Led blink 5 times</a:t>
            </a:r>
          </a:p>
          <a:p>
            <a:pPr lvl="2"/>
            <a:r>
              <a:rPr lang="en-US" i="1" dirty="0"/>
              <a:t>(auto) </a:t>
            </a:r>
            <a:r>
              <a:rPr lang="en-US" i="1" dirty="0" err="1"/>
              <a:t>bootloader</a:t>
            </a:r>
            <a:r>
              <a:rPr lang="en-US" i="1" dirty="0"/>
              <a:t> run application</a:t>
            </a:r>
          </a:p>
          <a:p>
            <a:pPr lvl="1"/>
            <a:r>
              <a:rPr lang="en-US" i="1" dirty="0"/>
              <a:t>WM-100-DUINO</a:t>
            </a:r>
          </a:p>
          <a:p>
            <a:pPr lvl="2"/>
            <a:r>
              <a:rPr lang="en-US" i="1" dirty="0"/>
              <a:t>Press Reset key (S1)</a:t>
            </a:r>
          </a:p>
          <a:p>
            <a:pPr lvl="2"/>
            <a:r>
              <a:rPr lang="en-US" i="1" dirty="0"/>
              <a:t>Press DFU key (S2)</a:t>
            </a:r>
          </a:p>
          <a:p>
            <a:pPr lvl="2"/>
            <a:r>
              <a:rPr lang="en-US" i="1" dirty="0"/>
              <a:t>Release S1</a:t>
            </a:r>
          </a:p>
          <a:p>
            <a:pPr lvl="2"/>
            <a:r>
              <a:rPr lang="en-US" i="1" dirty="0"/>
              <a:t>LED 0 blink 5 times</a:t>
            </a:r>
          </a:p>
          <a:p>
            <a:pPr lvl="2"/>
            <a:r>
              <a:rPr lang="en-US" i="1" dirty="0"/>
              <a:t>Release S2</a:t>
            </a:r>
          </a:p>
          <a:p>
            <a:pPr lvl="2"/>
            <a:r>
              <a:rPr lang="en-US" i="1" dirty="0"/>
              <a:t>(auto) idem KITRFA1</a:t>
            </a:r>
          </a:p>
          <a:p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0988166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19001"/>
            <a:ext cx="10820399" cy="738399"/>
          </a:xfrm>
        </p:spPr>
        <p:txBody>
          <a:bodyPr/>
          <a:lstStyle/>
          <a:p>
            <a:pPr algn="l"/>
            <a:r>
              <a:rPr lang="en-US" dirty="0"/>
              <a:t>Upload firmware with </a:t>
            </a:r>
            <a:r>
              <a:rPr lang="en-US" dirty="0" err="1"/>
              <a:t>AVRxPROG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5180926" cy="4024125"/>
          </a:xfrm>
        </p:spPr>
        <p:txBody>
          <a:bodyPr>
            <a:normAutofit/>
          </a:bodyPr>
          <a:lstStyle/>
          <a:p>
            <a:r>
              <a:rPr lang="en-US" i="1" dirty="0" smtClean="0"/>
              <a:t>Command line:</a:t>
            </a:r>
          </a:p>
          <a:p>
            <a:pPr lvl="1"/>
            <a:r>
              <a:rPr lang="en-US" i="1" dirty="0" smtClean="0"/>
              <a:t>Open command shell</a:t>
            </a:r>
          </a:p>
          <a:p>
            <a:pPr lvl="1"/>
            <a:r>
              <a:rPr lang="en-US" i="1" dirty="0" smtClean="0"/>
              <a:t>Go to &lt;</a:t>
            </a:r>
            <a:r>
              <a:rPr lang="en-US" i="1" dirty="0" err="1" smtClean="0"/>
              <a:t>avrxprog</a:t>
            </a:r>
            <a:r>
              <a:rPr lang="en-US" i="1" dirty="0" smtClean="0"/>
              <a:t> install </a:t>
            </a:r>
            <a:r>
              <a:rPr lang="en-US" i="1" dirty="0" err="1" smtClean="0"/>
              <a:t>dir</a:t>
            </a:r>
            <a:r>
              <a:rPr lang="en-US" i="1" dirty="0" smtClean="0"/>
              <a:t>&gt;</a:t>
            </a:r>
          </a:p>
          <a:p>
            <a:pPr marL="457200" lvl="1" indent="0">
              <a:buNone/>
            </a:pPr>
            <a:r>
              <a:rPr lang="en-US" i="1" dirty="0" smtClean="0"/>
              <a:t>and execute:</a:t>
            </a:r>
          </a:p>
          <a:p>
            <a:pPr marL="0" indent="0">
              <a:buNone/>
            </a:pPr>
            <a:r>
              <a:rPr lang="en-US" i="1" dirty="0" err="1" smtClean="0"/>
              <a:t>avrxprog</a:t>
            </a:r>
            <a:r>
              <a:rPr lang="en-US" i="1" dirty="0" smtClean="0"/>
              <a:t> –</a:t>
            </a:r>
            <a:r>
              <a:rPr lang="en-US" i="1" dirty="0" err="1" smtClean="0"/>
              <a:t>cCOMx</a:t>
            </a:r>
            <a:endParaRPr lang="en-US" i="1" dirty="0"/>
          </a:p>
          <a:p>
            <a:pPr marL="0" indent="0">
              <a:buNone/>
            </a:pPr>
            <a:r>
              <a:rPr lang="en-US" i="1" dirty="0" smtClean="0"/>
              <a:t>-datmega128rfa1</a:t>
            </a:r>
          </a:p>
          <a:p>
            <a:pPr marL="0" indent="0">
              <a:buNone/>
            </a:pPr>
            <a:r>
              <a:rPr lang="en-US" i="1" dirty="0" smtClean="0"/>
              <a:t>-if“&lt;solution </a:t>
            </a:r>
            <a:r>
              <a:rPr lang="en-US" i="1" dirty="0" err="1" smtClean="0"/>
              <a:t>dir</a:t>
            </a:r>
            <a:r>
              <a:rPr lang="en-US" i="1" dirty="0" smtClean="0"/>
              <a:t>&gt;\</a:t>
            </a:r>
            <a:r>
              <a:rPr lang="en-US" i="1" dirty="0" err="1" smtClean="0"/>
              <a:t>HandsOn_AVR.hex</a:t>
            </a:r>
            <a:r>
              <a:rPr lang="en-US" i="1" dirty="0" smtClean="0"/>
              <a:t>“</a:t>
            </a:r>
          </a:p>
          <a:p>
            <a:pPr marL="0" indent="0">
              <a:buNone/>
            </a:pPr>
            <a:r>
              <a:rPr lang="en-US" i="1" dirty="0" smtClean="0"/>
              <a:t>-</a:t>
            </a:r>
            <a:r>
              <a:rPr lang="en-US" i="1" dirty="0"/>
              <a:t>e -pf </a:t>
            </a:r>
            <a:r>
              <a:rPr lang="en-US" i="1" dirty="0" smtClean="0"/>
              <a:t>–</a:t>
            </a:r>
            <a:r>
              <a:rPr lang="en-US" i="1" dirty="0" err="1" smtClean="0"/>
              <a:t>vf</a:t>
            </a:r>
            <a:endParaRPr lang="en-US" i="1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992" y="2727016"/>
            <a:ext cx="6363007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5110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19001"/>
            <a:ext cx="10820399" cy="738399"/>
          </a:xfrm>
        </p:spPr>
        <p:txBody>
          <a:bodyPr/>
          <a:lstStyle/>
          <a:p>
            <a:pPr algn="l"/>
            <a:r>
              <a:rPr lang="en-US" dirty="0"/>
              <a:t>Upload firmware </a:t>
            </a:r>
            <a:r>
              <a:rPr lang="en-US" dirty="0" smtClean="0"/>
              <a:t>with SAM-BA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4574023" cy="4024125"/>
          </a:xfrm>
        </p:spPr>
        <p:txBody>
          <a:bodyPr>
            <a:normAutofit/>
          </a:bodyPr>
          <a:lstStyle/>
          <a:p>
            <a:r>
              <a:rPr lang="en-US" i="1" dirty="0" smtClean="0"/>
              <a:t>WM-400 Beagle Bone Shield:</a:t>
            </a:r>
            <a:endParaRPr lang="en-US" i="1" dirty="0"/>
          </a:p>
          <a:p>
            <a:pPr lvl="1"/>
            <a:r>
              <a:rPr lang="en-US" i="1" dirty="0"/>
              <a:t>Power Off </a:t>
            </a:r>
            <a:r>
              <a:rPr lang="en-US" i="1" dirty="0" smtClean="0"/>
              <a:t>kit removing USB cable from PC</a:t>
            </a:r>
            <a:endParaRPr lang="en-US" i="1" dirty="0"/>
          </a:p>
          <a:p>
            <a:pPr lvl="1"/>
            <a:r>
              <a:rPr lang="en-US" i="1" dirty="0"/>
              <a:t>Press </a:t>
            </a:r>
            <a:r>
              <a:rPr lang="en-US" i="1" dirty="0" smtClean="0"/>
              <a:t>DFU </a:t>
            </a:r>
            <a:r>
              <a:rPr lang="en-US" i="1" dirty="0"/>
              <a:t>key</a:t>
            </a:r>
          </a:p>
          <a:p>
            <a:pPr lvl="1"/>
            <a:r>
              <a:rPr lang="en-US" i="1" dirty="0"/>
              <a:t>Power On </a:t>
            </a:r>
            <a:r>
              <a:rPr lang="en-US" i="1" dirty="0" smtClean="0"/>
              <a:t>kit putting USB cable to PC. </a:t>
            </a:r>
            <a:r>
              <a:rPr lang="en-US" i="1" dirty="0" smtClean="0">
                <a:solidFill>
                  <a:srgbClr val="0070C0"/>
                </a:solidFill>
              </a:rPr>
              <a:t>SAM-BA </a:t>
            </a:r>
            <a:r>
              <a:rPr lang="en-US" i="1" dirty="0" err="1" smtClean="0">
                <a:solidFill>
                  <a:srgbClr val="0070C0"/>
                </a:solidFill>
              </a:rPr>
              <a:t>bootloader</a:t>
            </a:r>
            <a:r>
              <a:rPr lang="en-US" i="1" dirty="0" smtClean="0">
                <a:solidFill>
                  <a:srgbClr val="0070C0"/>
                </a:solidFill>
              </a:rPr>
              <a:t> create a Virtual COM CDC Port in PC</a:t>
            </a:r>
            <a:endParaRPr lang="en-US" i="1" dirty="0">
              <a:solidFill>
                <a:srgbClr val="0070C0"/>
              </a:solidFill>
            </a:endParaRPr>
          </a:p>
          <a:p>
            <a:pPr lvl="1"/>
            <a:r>
              <a:rPr lang="en-US" i="1" dirty="0" smtClean="0"/>
              <a:t>Open </a:t>
            </a:r>
            <a:r>
              <a:rPr lang="en-US" i="1" dirty="0" smtClean="0">
                <a:solidFill>
                  <a:srgbClr val="FF0000"/>
                </a:solidFill>
              </a:rPr>
              <a:t>SAM-BA ISP software</a:t>
            </a:r>
          </a:p>
          <a:p>
            <a:pPr lvl="1"/>
            <a:endParaRPr lang="en-US" i="1" dirty="0">
              <a:solidFill>
                <a:srgbClr val="FF0000"/>
              </a:solidFill>
            </a:endParaRPr>
          </a:p>
          <a:p>
            <a:r>
              <a:rPr lang="en-US" i="1" dirty="0" smtClean="0">
                <a:solidFill>
                  <a:srgbClr val="00B050"/>
                </a:solidFill>
              </a:rPr>
              <a:t>Note: SAM-BA driver stay in &lt;samba inst. dir.&gt;/</a:t>
            </a:r>
            <a:r>
              <a:rPr lang="en-US" i="1" dirty="0" err="1" smtClean="0">
                <a:solidFill>
                  <a:srgbClr val="00B050"/>
                </a:solidFill>
              </a:rPr>
              <a:t>drv</a:t>
            </a:r>
            <a:endParaRPr lang="en-US" i="1" dirty="0">
              <a:solidFill>
                <a:srgbClr val="00B05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095" y="2390733"/>
            <a:ext cx="6657975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877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19001"/>
            <a:ext cx="10820399" cy="738399"/>
          </a:xfrm>
        </p:spPr>
        <p:txBody>
          <a:bodyPr/>
          <a:lstStyle/>
          <a:p>
            <a:pPr algn="l"/>
            <a:r>
              <a:rPr lang="en-US" dirty="0"/>
              <a:t>Upload firmware </a:t>
            </a:r>
            <a:r>
              <a:rPr lang="en-US" dirty="0" smtClean="0"/>
              <a:t>with SAM-BA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4699270" cy="402412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After SAM-BA ISP IDE open you must set application start </a:t>
            </a:r>
            <a:r>
              <a:rPr lang="en-US" b="1" dirty="0" smtClean="0"/>
              <a:t>Address </a:t>
            </a:r>
            <a:r>
              <a:rPr lang="en-US" dirty="0" smtClean="0"/>
              <a:t>to </a:t>
            </a:r>
            <a:r>
              <a:rPr lang="en-US" b="1" dirty="0" smtClean="0"/>
              <a:t>0x4000h</a:t>
            </a:r>
            <a:r>
              <a:rPr lang="en-US" dirty="0" smtClean="0"/>
              <a:t>. The </a:t>
            </a:r>
            <a:r>
              <a:rPr lang="en-US" dirty="0" err="1" smtClean="0"/>
              <a:t>bootloader</a:t>
            </a:r>
            <a:r>
              <a:rPr lang="en-US" dirty="0" smtClean="0"/>
              <a:t> firmware reside in application flash. So application address from </a:t>
            </a:r>
            <a:r>
              <a:rPr lang="en-US" dirty="0" smtClean="0">
                <a:solidFill>
                  <a:srgbClr val="0070C0"/>
                </a:solidFill>
              </a:rPr>
              <a:t>0x0000h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0070C0"/>
                </a:solidFill>
              </a:rPr>
              <a:t>0x3FFFh</a:t>
            </a:r>
            <a:r>
              <a:rPr lang="en-US" dirty="0" smtClean="0"/>
              <a:t> is reserved and must be skipped when programming the board.</a:t>
            </a:r>
          </a:p>
          <a:p>
            <a:r>
              <a:rPr lang="en-US" dirty="0" smtClean="0"/>
              <a:t>Select </a:t>
            </a:r>
            <a:r>
              <a:rPr lang="en-US" b="1" dirty="0" err="1" smtClean="0"/>
              <a:t>HandsOn_ARM.bin</a:t>
            </a:r>
            <a:r>
              <a:rPr lang="en-US" dirty="0" smtClean="0"/>
              <a:t> and</a:t>
            </a:r>
            <a:r>
              <a:rPr lang="en-US" b="1" dirty="0" smtClean="0"/>
              <a:t> </a:t>
            </a:r>
            <a:r>
              <a:rPr lang="en-US" dirty="0" smtClean="0"/>
              <a:t>send the program.</a:t>
            </a:r>
          </a:p>
          <a:p>
            <a:r>
              <a:rPr lang="en-US" dirty="0" smtClean="0"/>
              <a:t>Close SAM-BA IDE and do a Power Off/On by USB cable</a:t>
            </a:r>
          </a:p>
          <a:p>
            <a:r>
              <a:rPr lang="en-US" dirty="0" smtClean="0"/>
              <a:t>Note: do not press DFU switch because its select </a:t>
            </a:r>
            <a:r>
              <a:rPr lang="en-US" dirty="0" err="1" smtClean="0"/>
              <a:t>bootloader</a:t>
            </a:r>
            <a:r>
              <a:rPr lang="en-US" dirty="0" smtClean="0"/>
              <a:t> and application will not run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070" y="2057400"/>
            <a:ext cx="6121129" cy="480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2409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19001"/>
            <a:ext cx="10820399" cy="738399"/>
          </a:xfrm>
        </p:spPr>
        <p:txBody>
          <a:bodyPr/>
          <a:lstStyle/>
          <a:p>
            <a:pPr algn="l"/>
            <a:r>
              <a:rPr lang="pt-BR" dirty="0" err="1" smtClean="0"/>
              <a:t>Issues</a:t>
            </a:r>
            <a:r>
              <a:rPr lang="pt-BR" dirty="0" smtClean="0"/>
              <a:t>?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10820399" cy="4024125"/>
          </a:xfrm>
        </p:spPr>
        <p:txBody>
          <a:bodyPr/>
          <a:lstStyle/>
          <a:p>
            <a:r>
              <a:rPr lang="en-US" dirty="0" err="1"/>
              <a:t>nandojve</a:t>
            </a:r>
            <a:r>
              <a:rPr lang="en-US" dirty="0"/>
              <a:t> at </a:t>
            </a:r>
            <a:r>
              <a:rPr lang="en-US" dirty="0" err="1"/>
              <a:t>gmail</a:t>
            </a:r>
            <a:r>
              <a:rPr lang="en-US" dirty="0"/>
              <a:t> dot com</a:t>
            </a:r>
          </a:p>
          <a:p>
            <a:pPr lvl="1"/>
            <a:endParaRPr lang="en-US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8124239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TC104033937[[fn=Vapor]]</Template>
  <TotalTime>503</TotalTime>
  <Words>1018</Words>
  <Application>Microsoft Office PowerPoint</Application>
  <PresentationFormat>Widescreen</PresentationFormat>
  <Paragraphs>172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Century Gothic</vt:lpstr>
      <vt:lpstr>Vapor Trail</vt:lpstr>
      <vt:lpstr>ATMEL Studio WM SerieS</vt:lpstr>
      <vt:lpstr>Agenda</vt:lpstr>
      <vt:lpstr>Overview</vt:lpstr>
      <vt:lpstr>Installing tools</vt:lpstr>
      <vt:lpstr>Installing tools</vt:lpstr>
      <vt:lpstr>Setup Environment</vt:lpstr>
      <vt:lpstr>Setup Environment</vt:lpstr>
      <vt:lpstr>Create a Project and convert to multi target</vt:lpstr>
      <vt:lpstr>Create solution base Project</vt:lpstr>
      <vt:lpstr>Seletct AVR8 microcontroller</vt:lpstr>
      <vt:lpstr>Seletct AVR8 microcontroller</vt:lpstr>
      <vt:lpstr>Rename avr8 Project</vt:lpstr>
      <vt:lpstr>Create ARM Project</vt:lpstr>
      <vt:lpstr>COPY arm project</vt:lpstr>
      <vt:lpstr>Re open hands on solution</vt:lpstr>
      <vt:lpstr>Create multi target</vt:lpstr>
      <vt:lpstr>Create multi target</vt:lpstr>
      <vt:lpstr>Create multi target</vt:lpstr>
      <vt:lpstr>Parametric  Makefile</vt:lpstr>
      <vt:lpstr>Parametric  Makefile</vt:lpstr>
      <vt:lpstr>Parametric  Makefile</vt:lpstr>
      <vt:lpstr>Blink a LED from scratch</vt:lpstr>
      <vt:lpstr>Blink a LED from scratch</vt:lpstr>
      <vt:lpstr>Upload firmware with AVRxPROG</vt:lpstr>
      <vt:lpstr>Upload firmware with AVRxPROG</vt:lpstr>
      <vt:lpstr>Upload firmware with SAM-BA</vt:lpstr>
      <vt:lpstr>Upload firmware with SAM-BA</vt:lpstr>
      <vt:lpstr>Issues?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ATMEL Studio WM SerieS</dc:title>
  <dc:creator>nando</dc:creator>
  <cp:lastModifiedBy>nando</cp:lastModifiedBy>
  <cp:revision>31</cp:revision>
  <dcterms:created xsi:type="dcterms:W3CDTF">2014-06-03T01:45:16Z</dcterms:created>
  <dcterms:modified xsi:type="dcterms:W3CDTF">2014-06-03T22:56:39Z</dcterms:modified>
</cp:coreProperties>
</file>